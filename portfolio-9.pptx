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1828800" y="1828800"/>
            <a:ext cx="8531352" cy="3200400"/>
          </a:xfrm>
          <a:prstGeom prst="rect">
            <a:avLst/>
          </a:prstGeom>
          <a:solidFill>
            <a:srgbClr val="2C3E5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286000" y="2286000"/>
            <a:ext cx="7616952" cy="1371600"/>
          </a:xfrm>
          <a:prstGeom prst="rect">
            <a:avLst/>
          </a:prstGeom>
          <a:noFill/>
        </p:spPr>
        <p:txBody>
          <a:bodyPr wrap="none">
            <a:spAutoFit/>
          </a:bodyPr>
          <a:lstStyle/>
          <a:p>
            <a:pPr>
              <a:defRPr sz="6000" b="1">
                <a:solidFill>
                  <a:srgbClr val="FFFFFF"/>
                </a:solidFill>
              </a:defRPr>
            </a:pPr>
            <a:r>
              <a:t>PORTFOLIO</a:t>
            </a:r>
          </a:p>
        </p:txBody>
      </p:sp>
      <p:sp>
        <p:nvSpPr>
          <p:cNvPr id="4" name="TextBox 3"/>
          <p:cNvSpPr txBox="1"/>
          <p:nvPr/>
        </p:nvSpPr>
        <p:spPr>
          <a:xfrm>
            <a:off x="2286000" y="3657600"/>
            <a:ext cx="7616952" cy="731520"/>
          </a:xfrm>
          <a:prstGeom prst="rect">
            <a:avLst/>
          </a:prstGeom>
          <a:noFill/>
        </p:spPr>
        <p:txBody>
          <a:bodyPr wrap="none">
            <a:spAutoFit/>
          </a:bodyPr>
          <a:lstStyle/>
          <a:p>
            <a:pPr>
              <a:defRPr sz="2400">
                <a:solidFill>
                  <a:srgbClr val="3498DB"/>
                </a:solidFill>
              </a:defRPr>
            </a:pPr>
            <a:r>
              <a:t>qhrudlim | Frontend Developer 임보경</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2C3E5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548640"/>
          </a:xfrm>
          <a:prstGeom prst="rect">
            <a:avLst/>
          </a:prstGeom>
          <a:noFill/>
        </p:spPr>
        <p:txBody>
          <a:bodyPr wrap="none">
            <a:spAutoFit/>
          </a:bodyPr>
          <a:lstStyle/>
          <a:p>
            <a:pPr algn="l">
              <a:defRPr sz="2800" b="1">
                <a:solidFill>
                  <a:srgbClr val="FFFFFF"/>
                </a:solidFill>
              </a:defRPr>
            </a:pPr>
            <a:r>
              <a:t>01. ABOUT ME</a:t>
            </a:r>
          </a:p>
        </p:txBody>
      </p:sp>
      <p:sp>
        <p:nvSpPr>
          <p:cNvPr id="4" name="TextBox 3"/>
          <p:cNvSpPr txBox="1"/>
          <p:nvPr/>
        </p:nvSpPr>
        <p:spPr>
          <a:xfrm>
            <a:off x="914400" y="1097280"/>
            <a:ext cx="10058400" cy="914400"/>
          </a:xfrm>
          <a:prstGeom prst="rect">
            <a:avLst/>
          </a:prstGeom>
          <a:noFill/>
        </p:spPr>
        <p:txBody>
          <a:bodyPr wrap="none">
            <a:spAutoFit/>
          </a:bodyPr>
          <a:lstStyle/>
          <a:p>
            <a:pPr>
              <a:defRPr sz="2000" i="1">
                <a:solidFill>
                  <a:srgbClr val="2C3E50"/>
                </a:solidFill>
              </a:defRPr>
            </a:pPr>
            <a:r>
              <a:t>"사용자 경험 흐름을 설계하고 단순하고 유지보수하기 쉬운 구조를 유지하는 데 중점을 둡니다."</a:t>
            </a:r>
          </a:p>
        </p:txBody>
      </p:sp>
      <p:sp>
        <p:nvSpPr>
          <p:cNvPr id="5" name="TextBox 4"/>
          <p:cNvSpPr txBox="1"/>
          <p:nvPr/>
        </p:nvSpPr>
        <p:spPr>
          <a:xfrm>
            <a:off x="914400" y="2286000"/>
            <a:ext cx="5486400" cy="2743200"/>
          </a:xfrm>
          <a:prstGeom prst="rect">
            <a:avLst/>
          </a:prstGeom>
          <a:noFill/>
        </p:spPr>
        <p:txBody>
          <a:bodyPr wrap="square">
            <a:spAutoFit/>
          </a:bodyPr>
          <a:lstStyle/>
          <a:p>
            <a:pPr>
              <a:defRPr sz="1600">
                <a:solidFill>
                  <a:srgbClr val="555555"/>
                </a:solidFill>
              </a:defRPr>
            </a:pPr>
            <a:r>
              <a:t>단순한 기능 구현을 넘어 상태 흐름의 명확성과 유지보수성을 최우선으로 생각하는 프론트엔드 개발자입니다. 문제를 구조화하여 정리하는 것을 즐기며, UX 고도화 과정에서 보람을 느낍니다. 최근에는 오픈소스 생태계와 브라우저 엔진 기여에 깊은 관심을 가지고 공부하고 있습니다.</a:t>
            </a:r>
          </a:p>
        </p:txBody>
      </p:sp>
      <p:sp>
        <p:nvSpPr>
          <p:cNvPr id="6" name="TextBox 5"/>
          <p:cNvSpPr txBox="1"/>
          <p:nvPr/>
        </p:nvSpPr>
        <p:spPr>
          <a:xfrm>
            <a:off x="6858000" y="2286000"/>
            <a:ext cx="4572000" cy="1828800"/>
          </a:xfrm>
          <a:prstGeom prst="rect">
            <a:avLst/>
          </a:prstGeom>
          <a:noFill/>
        </p:spPr>
        <p:txBody>
          <a:bodyPr wrap="none">
            <a:spAutoFit/>
          </a:bodyPr>
          <a:lstStyle/>
          <a:p/>
          <a:p>
            <a:pPr>
              <a:defRPr sz="1400" b="1">
                <a:solidFill>
                  <a:srgbClr val="2C3E50"/>
                </a:solidFill>
              </a:defRPr>
            </a:pPr>
            <a:r>
              <a:t>Name: 임보경 (BoGyeong Lim)</a:t>
            </a:r>
          </a:p>
          <a:p>
            <a:pPr>
              <a:defRPr sz="1400" b="1">
                <a:solidFill>
                  <a:srgbClr val="2C3E50"/>
                </a:solidFill>
              </a:defRPr>
            </a:pPr>
            <a:r>
              <a:t>Phone: 010-3396-6856</a:t>
            </a:r>
          </a:p>
          <a:p>
            <a:pPr>
              <a:defRPr sz="1400" b="1">
                <a:solidFill>
                  <a:srgbClr val="2C3E50"/>
                </a:solidFill>
              </a:defRPr>
            </a:pPr>
            <a:r>
              <a:t>Email: qhrudlim@gmail.com</a:t>
            </a:r>
          </a:p>
          <a:p>
            <a:pPr>
              <a:defRPr sz="1400" b="1">
                <a:solidFill>
                  <a:srgbClr val="2C3E50"/>
                </a:solidFill>
              </a:defRPr>
            </a:pPr>
            <a:r>
              <a:t>GitHub: qhrudlim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2C3E5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548640"/>
          </a:xfrm>
          <a:prstGeom prst="rect">
            <a:avLst/>
          </a:prstGeom>
          <a:noFill/>
        </p:spPr>
        <p:txBody>
          <a:bodyPr wrap="none">
            <a:spAutoFit/>
          </a:bodyPr>
          <a:lstStyle/>
          <a:p>
            <a:pPr algn="l">
              <a:defRPr sz="2800" b="1">
                <a:solidFill>
                  <a:srgbClr val="FFFFFF"/>
                </a:solidFill>
              </a:defRPr>
            </a:pPr>
            <a:r>
              <a:t>02. TECH STACK</a:t>
            </a:r>
          </a:p>
        </p:txBody>
      </p:sp>
      <p:sp>
        <p:nvSpPr>
          <p:cNvPr id="4" name="Rounded Rectangle 3"/>
          <p:cNvSpPr/>
          <p:nvPr/>
        </p:nvSpPr>
        <p:spPr>
          <a:xfrm>
            <a:off x="457200" y="1097280"/>
            <a:ext cx="5486400" cy="2286000"/>
          </a:xfrm>
          <a:prstGeom prst="roundRect">
            <a:avLst/>
          </a:prstGeom>
          <a:solidFill>
            <a:srgbClr val="FFFFFF"/>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280160"/>
            <a:ext cx="5120640" cy="1828800"/>
          </a:xfrm>
          <a:prstGeom prst="rect">
            <a:avLst/>
          </a:prstGeom>
          <a:noFill/>
        </p:spPr>
        <p:txBody>
          <a:bodyPr wrap="none">
            <a:spAutoFit/>
          </a:bodyPr>
          <a:lstStyle/>
          <a:p>
            <a:pPr>
              <a:defRPr sz="2000" b="1">
                <a:solidFill>
                  <a:srgbClr val="2C3E50"/>
                </a:solidFill>
              </a:defRPr>
            </a:pPr>
            <a:r>
              <a:t>Frontend</a:t>
            </a:r>
          </a:p>
          <a:p>
            <a:pPr>
              <a:defRPr sz="1600">
                <a:solidFill>
                  <a:srgbClr val="444444"/>
                </a:solidFill>
              </a:defRPr>
            </a:pPr>
            <a:r>
              <a:t>React, Vue, HTML, Vanilla CSS, Tailwind CSS</a:t>
            </a:r>
          </a:p>
        </p:txBody>
      </p:sp>
      <p:sp>
        <p:nvSpPr>
          <p:cNvPr id="6" name="Rounded Rectangle 5"/>
          <p:cNvSpPr/>
          <p:nvPr/>
        </p:nvSpPr>
        <p:spPr>
          <a:xfrm>
            <a:off x="6217920" y="1097280"/>
            <a:ext cx="5486400" cy="2286000"/>
          </a:xfrm>
          <a:prstGeom prst="roundRect">
            <a:avLst/>
          </a:prstGeom>
          <a:solidFill>
            <a:srgbClr val="FFFFFF"/>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280160"/>
            <a:ext cx="5120640" cy="1828800"/>
          </a:xfrm>
          <a:prstGeom prst="rect">
            <a:avLst/>
          </a:prstGeom>
          <a:noFill/>
        </p:spPr>
        <p:txBody>
          <a:bodyPr wrap="none">
            <a:spAutoFit/>
          </a:bodyPr>
          <a:lstStyle/>
          <a:p>
            <a:pPr>
              <a:defRPr sz="2000" b="1">
                <a:solidFill>
                  <a:srgbClr val="2C3E50"/>
                </a:solidFill>
              </a:defRPr>
            </a:pPr>
            <a:r>
              <a:t>Languages</a:t>
            </a:r>
          </a:p>
          <a:p>
            <a:pPr>
              <a:defRPr sz="1600">
                <a:solidFill>
                  <a:srgbClr val="444444"/>
                </a:solidFill>
              </a:defRPr>
            </a:pPr>
            <a:r>
              <a:t>JavaScript, TypeScript, Python, Java (Learning)</a:t>
            </a:r>
          </a:p>
        </p:txBody>
      </p:sp>
      <p:sp>
        <p:nvSpPr>
          <p:cNvPr id="8" name="Rounded Rectangle 7"/>
          <p:cNvSpPr/>
          <p:nvPr/>
        </p:nvSpPr>
        <p:spPr>
          <a:xfrm>
            <a:off x="457200" y="3840480"/>
            <a:ext cx="5486400" cy="2286000"/>
          </a:xfrm>
          <a:prstGeom prst="roundRect">
            <a:avLst/>
          </a:prstGeom>
          <a:solidFill>
            <a:srgbClr val="FFFFFF"/>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4023360"/>
            <a:ext cx="5120640" cy="1828800"/>
          </a:xfrm>
          <a:prstGeom prst="rect">
            <a:avLst/>
          </a:prstGeom>
          <a:noFill/>
        </p:spPr>
        <p:txBody>
          <a:bodyPr wrap="none">
            <a:spAutoFit/>
          </a:bodyPr>
          <a:lstStyle/>
          <a:p>
            <a:pPr>
              <a:defRPr sz="2000" b="1">
                <a:solidFill>
                  <a:srgbClr val="2C3E50"/>
                </a:solidFill>
              </a:defRPr>
            </a:pPr>
            <a:r>
              <a:t>Backend &amp; DB</a:t>
            </a:r>
          </a:p>
          <a:p>
            <a:pPr>
              <a:defRPr sz="1600">
                <a:solidFill>
                  <a:srgbClr val="444444"/>
                </a:solidFill>
              </a:defRPr>
            </a:pPr>
            <a:r>
              <a:t>Django, MySQL</a:t>
            </a:r>
          </a:p>
        </p:txBody>
      </p:sp>
      <p:sp>
        <p:nvSpPr>
          <p:cNvPr id="10" name="Rounded Rectangle 9"/>
          <p:cNvSpPr/>
          <p:nvPr/>
        </p:nvSpPr>
        <p:spPr>
          <a:xfrm>
            <a:off x="6217920" y="3840480"/>
            <a:ext cx="5486400" cy="2286000"/>
          </a:xfrm>
          <a:prstGeom prst="roundRect">
            <a:avLst/>
          </a:prstGeom>
          <a:solidFill>
            <a:srgbClr val="FFFFFF"/>
          </a:solidFill>
          <a:ln>
            <a:solidFill>
              <a:srgbClr val="3498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23360"/>
            <a:ext cx="5120640" cy="1828800"/>
          </a:xfrm>
          <a:prstGeom prst="rect">
            <a:avLst/>
          </a:prstGeom>
          <a:noFill/>
        </p:spPr>
        <p:txBody>
          <a:bodyPr wrap="none">
            <a:spAutoFit/>
          </a:bodyPr>
          <a:lstStyle/>
          <a:p>
            <a:pPr>
              <a:defRPr sz="2000" b="1">
                <a:solidFill>
                  <a:srgbClr val="2C3E50"/>
                </a:solidFill>
              </a:defRPr>
            </a:pPr>
            <a:r>
              <a:t>Tools</a:t>
            </a:r>
          </a:p>
          <a:p>
            <a:pPr>
              <a:defRPr sz="1600">
                <a:solidFill>
                  <a:srgbClr val="444444"/>
                </a:solidFill>
              </a:defRPr>
            </a:pPr>
            <a:r>
              <a:t>Git, GitHub, GitLab, Jira, Figma, Mattermost, Postman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2C3E5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548640"/>
          </a:xfrm>
          <a:prstGeom prst="rect">
            <a:avLst/>
          </a:prstGeom>
          <a:noFill/>
        </p:spPr>
        <p:txBody>
          <a:bodyPr wrap="none">
            <a:spAutoFit/>
          </a:bodyPr>
          <a:lstStyle/>
          <a:p>
            <a:pPr algn="l">
              <a:defRPr sz="2800" b="1">
                <a:solidFill>
                  <a:srgbClr val="FFFFFF"/>
                </a:solidFill>
              </a:defRPr>
            </a:pPr>
            <a:r>
              <a:t>03. TIMELINE &amp; HISTORY</a:t>
            </a:r>
          </a:p>
        </p:txBody>
      </p:sp>
      <p:sp>
        <p:nvSpPr>
          <p:cNvPr id="4" name="TextBox 3"/>
          <p:cNvSpPr txBox="1"/>
          <p:nvPr/>
        </p:nvSpPr>
        <p:spPr>
          <a:xfrm>
            <a:off x="914400" y="1097280"/>
            <a:ext cx="10058400" cy="5029200"/>
          </a:xfrm>
          <a:prstGeom prst="rect">
            <a:avLst/>
          </a:prstGeom>
          <a:noFill/>
        </p:spPr>
        <p:txBody>
          <a:bodyPr wrap="square">
            <a:spAutoFit/>
          </a:bodyPr>
          <a:lstStyle/>
          <a:p/>
          <a:p>
            <a:pPr>
              <a:spcAft>
                <a:spcPts val="1200"/>
              </a:spcAft>
              <a:defRPr sz="1600">
                <a:solidFill>
                  <a:srgbClr val="444444"/>
                </a:solidFill>
              </a:defRPr>
            </a:pPr>
            <a:r>
              <a:t>• 2026.06 | SSAFY 14기 수료 (구미캠퍼스) - 공통 프로젝트 반 우승</a:t>
            </a:r>
          </a:p>
          <a:p>
            <a:pPr>
              <a:spcAft>
                <a:spcPts val="1200"/>
              </a:spcAft>
              <a:defRPr sz="1600">
                <a:solidFill>
                  <a:srgbClr val="444444"/>
                </a:solidFill>
              </a:defRPr>
            </a:pPr>
            <a:r>
              <a:t>• 2025.08 | 충남대학교 과학수사학과 석사 졸업</a:t>
            </a:r>
          </a:p>
          <a:p>
            <a:pPr>
              <a:spcAft>
                <a:spcPts val="1200"/>
              </a:spcAft>
              <a:defRPr sz="1600">
                <a:solidFill>
                  <a:srgbClr val="444444"/>
                </a:solidFill>
              </a:defRPr>
            </a:pPr>
            <a:r>
              <a:t>• 2025.07 | 삼성 청년 SW 아카데미(SSAFY) 입과</a:t>
            </a:r>
          </a:p>
          <a:p>
            <a:pPr>
              <a:spcAft>
                <a:spcPts val="1200"/>
              </a:spcAft>
              <a:defRPr sz="1600">
                <a:solidFill>
                  <a:srgbClr val="444444"/>
                </a:solidFill>
              </a:defRPr>
            </a:pPr>
            <a:r>
              <a:t>• 2025.06 | SBS 아카데미 웹디자인 과정 수료</a:t>
            </a:r>
          </a:p>
          <a:p>
            <a:pPr>
              <a:spcAft>
                <a:spcPts val="1200"/>
              </a:spcAft>
              <a:defRPr sz="1600">
                <a:solidFill>
                  <a:srgbClr val="444444"/>
                </a:solidFill>
              </a:defRPr>
            </a:pPr>
            <a:r>
              <a:t>• 2022.11 | 과학 강사 (와이즈만영재교육 대전도안센터)</a:t>
            </a:r>
          </a:p>
          <a:p>
            <a:pPr>
              <a:spcAft>
                <a:spcPts val="1200"/>
              </a:spcAft>
              <a:defRPr sz="1600">
                <a:solidFill>
                  <a:srgbClr val="444444"/>
                </a:solidFill>
              </a:defRPr>
            </a:pPr>
            <a:r>
              <a:t>• 2022.02 | 계명대학교 화학전공 학사 졸업</a:t>
            </a:r>
          </a:p>
          <a:p>
            <a:pPr>
              <a:spcAft>
                <a:spcPts val="1200"/>
              </a:spcAft>
              <a:defRPr sz="1600">
                <a:solidFill>
                  <a:srgbClr val="444444"/>
                </a:solidFill>
              </a:defRPr>
            </a:pPr>
            <a:r>
              <a:t>• 2016.02 | 한국사능력검정시험 2급 취득</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2C3E5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548640"/>
          </a:xfrm>
          <a:prstGeom prst="rect">
            <a:avLst/>
          </a:prstGeom>
          <a:noFill/>
        </p:spPr>
        <p:txBody>
          <a:bodyPr wrap="none">
            <a:spAutoFit/>
          </a:bodyPr>
          <a:lstStyle/>
          <a:p>
            <a:pPr algn="l">
              <a:defRPr sz="2800" b="1">
                <a:solidFill>
                  <a:srgbClr val="FFFFFF"/>
                </a:solidFill>
              </a:defRPr>
            </a:pPr>
            <a:r>
              <a:t>04. PROJECT: DocQ</a:t>
            </a:r>
          </a:p>
        </p:txBody>
      </p:sp>
      <p:sp>
        <p:nvSpPr>
          <p:cNvPr id="4" name="Pentagon 3"/>
          <p:cNvSpPr/>
          <p:nvPr/>
        </p:nvSpPr>
        <p:spPr>
          <a:xfrm>
            <a:off x="9601200" y="1097280"/>
            <a:ext cx="1828800" cy="548640"/>
          </a:xfrm>
          <a:prstGeom prst="homePlate">
            <a:avLst/>
          </a:prstGeom>
          <a:solidFill>
            <a:srgbClr val="F1C40F"/>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0" y="1097280"/>
            <a:ext cx="1828800" cy="548640"/>
          </a:xfrm>
          <a:prstGeom prst="rect">
            <a:avLst/>
          </a:prstGeom>
          <a:noFill/>
        </p:spPr>
        <p:txBody>
          <a:bodyPr wrap="none">
            <a:spAutoFit/>
          </a:bodyPr>
          <a:lstStyle/>
          <a:p>
            <a:pPr algn="ctr">
              <a:defRPr b="1"/>
            </a:pPr>
            <a:r>
              <a:t>반 우승 수상</a:t>
            </a:r>
          </a:p>
        </p:txBody>
      </p:sp>
      <p:sp>
        <p:nvSpPr>
          <p:cNvPr id="6" name="TextBox 5"/>
          <p:cNvSpPr txBox="1"/>
          <p:nvPr/>
        </p:nvSpPr>
        <p:spPr>
          <a:xfrm>
            <a:off x="457200" y="1097280"/>
            <a:ext cx="10972800" cy="4572000"/>
          </a:xfrm>
          <a:prstGeom prst="rect">
            <a:avLst/>
          </a:prstGeom>
          <a:noFill/>
        </p:spPr>
        <p:txBody>
          <a:bodyPr wrap="square">
            <a:spAutoFit/>
          </a:bodyPr>
          <a:lstStyle/>
          <a:p/>
          <a:p>
            <a:pPr>
              <a:defRPr sz="1600"/>
            </a:pPr>
            <a:r>
              <a:t>제목: DocQ - PDF 기반 멀티플레이 3D 퀴즈 게임</a:t>
            </a:r>
          </a:p>
          <a:p>
            <a:pPr>
              <a:defRPr sz="1600"/>
            </a:pPr>
            <a:r>
              <a:t>역할: 프론트엔드 (3D 게임 화면 및 상태 기반 흐름 설계)</a:t>
            </a:r>
          </a:p>
          <a:p>
            <a:pPr>
              <a:defRPr sz="1600"/>
            </a:pPr>
            <a:r>
              <a:t>핵심 기술: React, Three.js, TypeScript, Blender</a:t>
            </a:r>
          </a:p>
          <a:p>
            <a:pPr>
              <a:defRPr sz="1600"/>
            </a:pPr>
          </a:p>
          <a:p>
            <a:pPr>
              <a:defRPr sz="1600" b="1"/>
            </a:pPr>
            <a:r>
              <a:t>주요 성과 및 해결 과정:</a:t>
            </a:r>
          </a:p>
          <a:p>
            <a:pPr>
              <a:defRPr sz="1600"/>
            </a:pPr>
            <a:r>
              <a:t>1. 2.5D 한계 극복을 위한 3D 통합 구조 전환 주도</a:t>
            </a:r>
          </a:p>
          <a:p>
            <a:pPr>
              <a:defRPr sz="1600"/>
            </a:pPr>
            <a:r>
              <a:t>2. Blender를 활용한 GLTF/GLB 포맷 변환으로 로딩 시간 최적화</a:t>
            </a:r>
          </a:p>
          <a:p>
            <a:pPr>
              <a:defRPr sz="1600"/>
            </a:pPr>
            <a:r>
              <a:t>3. 상태 전이 기반 자동 진행 게임 로직 설계 및 구현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9FA"/>
        </a:solidFill>
        <a:effectLst/>
      </p:bgPr>
    </p:bg>
    <p:spTree>
      <p:nvGrpSpPr>
        <p:cNvPr id="1" name=""/>
        <p:cNvGrpSpPr/>
        <p:nvPr/>
      </p:nvGrpSpPr>
      <p:grpSpPr/>
      <p:sp>
        <p:nvSpPr>
          <p:cNvPr id="2" name="Rectangle 1"/>
          <p:cNvSpPr/>
          <p:nvPr/>
        </p:nvSpPr>
        <p:spPr>
          <a:xfrm>
            <a:off x="0" y="0"/>
            <a:ext cx="12191695" cy="731520"/>
          </a:xfrm>
          <a:prstGeom prst="rect">
            <a:avLst/>
          </a:prstGeom>
          <a:solidFill>
            <a:srgbClr val="2C3E5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91440"/>
            <a:ext cx="9144000" cy="548640"/>
          </a:xfrm>
          <a:prstGeom prst="rect">
            <a:avLst/>
          </a:prstGeom>
          <a:noFill/>
        </p:spPr>
        <p:txBody>
          <a:bodyPr wrap="none">
            <a:spAutoFit/>
          </a:bodyPr>
          <a:lstStyle/>
          <a:p>
            <a:pPr algn="l">
              <a:defRPr sz="2800" b="1">
                <a:solidFill>
                  <a:srgbClr val="FFFFFF"/>
                </a:solidFill>
              </a:defRPr>
            </a:pPr>
            <a:r>
              <a:t>05. OTHER PROJECTS</a:t>
            </a:r>
          </a:p>
        </p:txBody>
      </p:sp>
      <p:sp>
        <p:nvSpPr>
          <p:cNvPr id="4" name="TextBox 3"/>
          <p:cNvSpPr txBox="1"/>
          <p:nvPr/>
        </p:nvSpPr>
        <p:spPr>
          <a:xfrm>
            <a:off x="457200" y="1097280"/>
            <a:ext cx="10972800" cy="4572000"/>
          </a:xfrm>
          <a:prstGeom prst="rect">
            <a:avLst/>
          </a:prstGeom>
          <a:noFill/>
        </p:spPr>
        <p:txBody>
          <a:bodyPr wrap="none">
            <a:spAutoFit/>
          </a:bodyPr>
          <a:lstStyle/>
          <a:p/>
          <a:p>
            <a:pPr>
              <a:defRPr sz="2000" b="1">
                <a:solidFill>
                  <a:srgbClr val="3498DB"/>
                </a:solidFill>
              </a:defRPr>
            </a:pPr>
            <a:r>
              <a:t>BioTwin (특화 프로젝트)</a:t>
            </a:r>
          </a:p>
          <a:p>
            <a:pPr>
              <a:defRPr sz="1600"/>
            </a:pPr>
            <a:r>
              <a:t>• 생체 데이터 시각화 플랫폼</a:t>
            </a:r>
          </a:p>
          <a:p>
            <a:pPr>
              <a:defRPr sz="1600">
                <a:solidFill>
                  <a:srgbClr val="666666"/>
                </a:solidFill>
              </a:defRPr>
            </a:pPr>
            <a:r>
              <a:t>• Vue.js, TypeScript 기반 데이터 시각화 차트 구현</a:t>
            </a:r>
          </a:p>
          <a:p>
            <a:pPr>
              <a:defRPr sz="2000" b="1">
                <a:solidFill>
                  <a:srgbClr val="3498DB"/>
                </a:solidFill>
              </a:defRPr>
            </a:pPr>
            <a:r>
              <a:t>JIPCHAK (자율 프로젝트)</a:t>
            </a:r>
          </a:p>
          <a:p>
            <a:pPr>
              <a:defRPr sz="1600"/>
            </a:pPr>
            <a:r>
              <a:t>• IoT 기반 스마트 솔루션</a:t>
            </a:r>
          </a:p>
          <a:p>
            <a:pPr>
              <a:defRPr sz="1600">
                <a:solidFill>
                  <a:srgbClr val="666666"/>
                </a:solidFill>
              </a:defRPr>
            </a:pPr>
            <a:r>
              <a:t>• React, Tailwind CSS, TypeScript 활용 메인 페이지 구현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